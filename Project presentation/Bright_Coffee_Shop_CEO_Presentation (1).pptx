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A40A2B-7BE9-47A0-8239-86261CB86C38}" v="166" dt="2026-10-11T13:52:41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2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40080"/>
            <a:ext cx="10607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CD0AB"/>
                </a:solidFill>
                <a:latin typeface="Aptos"/>
              </a:rPr>
              <a:t>BRIGHT COFFEE 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Executive Sales Performance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9966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F5E8D8"/>
                </a:solidFill>
                <a:latin typeface="Aptos"/>
              </a:rPr>
              <a:t>Key findings and recommended actions | January–June 2023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49039"/>
            <a:ext cx="2560320" cy="1143000"/>
          </a:xfrm>
          <a:prstGeom prst="roundRect">
            <a:avLst/>
          </a:prstGeom>
          <a:solidFill>
            <a:srgbClr val="FAF7F1"/>
          </a:solidFill>
          <a:ln>
            <a:solidFill>
              <a:srgbClr val="FA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3913631"/>
            <a:ext cx="22311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432A"/>
                </a:solidFill>
                <a:latin typeface="Aptos"/>
              </a:rP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224527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4E2C1B"/>
                </a:solidFill>
                <a:latin typeface="Aptos Display"/>
              </a:rPr>
              <a:t>698,812.33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749039"/>
            <a:ext cx="2560320" cy="1143000"/>
          </a:xfrm>
          <a:prstGeom prst="roundRect">
            <a:avLst/>
          </a:prstGeom>
          <a:solidFill>
            <a:srgbClr val="FAF7F1"/>
          </a:solidFill>
          <a:ln>
            <a:solidFill>
              <a:srgbClr val="FA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30752" y="3913631"/>
            <a:ext cx="22311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432A"/>
                </a:solidFill>
                <a:latin typeface="Aptos"/>
              </a:rPr>
              <a:t>QUANTITY SOLD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4224527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4E2C1B"/>
                </a:solidFill>
                <a:latin typeface="Aptos Display"/>
              </a:rPr>
              <a:t>214,470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3749039"/>
            <a:ext cx="2560320" cy="1143000"/>
          </a:xfrm>
          <a:prstGeom prst="roundRect">
            <a:avLst/>
          </a:prstGeom>
          <a:solidFill>
            <a:srgbClr val="FAF7F1"/>
          </a:solidFill>
          <a:ln>
            <a:solidFill>
              <a:srgbClr val="FA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1" y="3913631"/>
            <a:ext cx="22311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432A"/>
                </a:solidFill>
                <a:latin typeface="Aptos"/>
              </a:rPr>
              <a:t>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1" y="4224527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4E2C1B"/>
                </a:solidFill>
                <a:latin typeface="Aptos Display"/>
              </a:rPr>
              <a:t>149,116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749039"/>
            <a:ext cx="2560320" cy="1143000"/>
          </a:xfrm>
          <a:prstGeom prst="roundRect">
            <a:avLst/>
          </a:prstGeom>
          <a:solidFill>
            <a:srgbClr val="FAF7F1"/>
          </a:solidFill>
          <a:ln>
            <a:solidFill>
              <a:srgbClr val="FA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08592" y="3913631"/>
            <a:ext cx="22311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432A"/>
                </a:solidFill>
                <a:latin typeface="Aptos"/>
              </a:rPr>
              <a:t>AVG. REVENUE / TRANSACTION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4224527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4E2C1B"/>
                </a:solidFill>
                <a:latin typeface="Aptos Display"/>
              </a:rPr>
              <a:t>4.69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8076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5E8D8"/>
                </a:solidFill>
                <a:latin typeface="Aptos"/>
              </a:rPr>
              <a:t>Purpose: turn historical sales patterns into practical decisions on stock, staffing and promotions.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412480" y="0"/>
            <a:ext cx="3840480" cy="6858000"/>
          </a:xfrm>
          <a:prstGeom prst="round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0" y="640080"/>
            <a:ext cx="2286000" cy="914400"/>
          </a:xfrm>
          <a:prstGeom prst="roundRect">
            <a:avLst/>
          </a:prstGeom>
          <a:solidFill>
            <a:srgbClr val="DCA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0" y="1920240"/>
            <a:ext cx="2834640" cy="411480"/>
          </a:xfrm>
          <a:prstGeom prst="roundRect">
            <a:avLst/>
          </a:prstGeom>
          <a:solidFill>
            <a:srgbClr val="E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0" y="2743200"/>
            <a:ext cx="2286000" cy="2194560"/>
          </a:xfrm>
          <a:prstGeom prst="roundRect">
            <a:avLst/>
          </a:prstGeom>
          <a:solidFill>
            <a:srgbClr val="2F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95360" y="5486400"/>
            <a:ext cx="3200400" cy="502920"/>
          </a:xfrm>
          <a:prstGeom prst="roundRect">
            <a:avLst/>
          </a:prstGeom>
          <a:solidFill>
            <a:srgbClr val="E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7132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Sales Analysis
&amp; Performance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858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1F6F7"/>
                </a:solidFill>
                <a:latin typeface="Aptos"/>
              </a:rPr>
              <a:t>A data-driven review of sales, products, stores, and customer purchasing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3F35"/>
                </a:solidFill>
                <a:latin typeface="Aptos"/>
              </a:rPr>
              <a:t>1.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05840" cy="64008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6C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32D2B"/>
                </a:solidFill>
                <a:latin typeface="Aptos"/>
              </a:defRPr>
            </a:pPr>
            <a:r>
              <a:t>Analyse coffee shop sales data to understand business performance.</a:t>
            </a:r>
          </a:p>
          <a:p>
            <a:pPr>
              <a:spcAft>
                <a:spcPts val="1800"/>
              </a:spcAft>
              <a:defRPr sz="2000">
                <a:solidFill>
                  <a:srgbClr val="232D2B"/>
                </a:solidFill>
                <a:latin typeface="Aptos"/>
              </a:defRPr>
            </a:pPr>
            <a:r>
              <a:t>Measure revenue, quantity sold, and transaction activity.</a:t>
            </a:r>
          </a:p>
          <a:p>
            <a:pPr>
              <a:spcAft>
                <a:spcPts val="1800"/>
              </a:spcAft>
              <a:defRPr sz="2000">
                <a:solidFill>
                  <a:srgbClr val="232D2B"/>
                </a:solidFill>
                <a:latin typeface="Aptos"/>
              </a:defRPr>
            </a:pPr>
            <a:r>
              <a:t>Compare performance by month, product category, product type, store, day, and time.</a:t>
            </a:r>
          </a:p>
          <a:p>
            <a:pPr>
              <a:spcAft>
                <a:spcPts val="1800"/>
              </a:spcAft>
              <a:defRPr sz="2000">
                <a:solidFill>
                  <a:srgbClr val="232D2B"/>
                </a:solidFill>
                <a:latin typeface="Aptos"/>
              </a:defRPr>
            </a:pPr>
            <a:r>
              <a:t>Build interactive dashboards to communicate findings clearly.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783080"/>
            <a:ext cx="3474720" cy="3474720"/>
          </a:xfrm>
          <a:prstGeom prst="roundRect">
            <a:avLst/>
          </a:prstGeom>
          <a:solidFill>
            <a:srgbClr val="E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21031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6B5B"/>
                </a:solidFill>
                <a:latin typeface="Aptos"/>
              </a:rPr>
              <a:t>MAIN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651760"/>
            <a:ext cx="2743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73F35"/>
                </a:solidFill>
                <a:latin typeface="Aptos"/>
              </a:rPr>
              <a:t>What drives sales performance, and where can the business improve?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3F35"/>
                </a:solidFill>
                <a:latin typeface="Aptos"/>
              </a:rPr>
              <a:t>2. Project Workflow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05840" cy="64008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6C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476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99A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2938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73F35"/>
                </a:solidFill>
                <a:latin typeface="Aptos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50008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6C"/>
                </a:solidFill>
                <a:latin typeface="Aptos"/>
              </a:rPr>
              <a:t>Miro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830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9476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99A6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2938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73F35"/>
                </a:solidFill>
                <a:latin typeface="Aptos"/>
              </a:rP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350008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6C"/>
                </a:solidFill>
                <a:latin typeface="Aptos"/>
              </a:rPr>
              <a:t>Review and clean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7830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9476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99A6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92938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73F35"/>
                </a:solidFill>
                <a:latin typeface="Aptos"/>
              </a:rPr>
              <a:t>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350008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6C"/>
                </a:solidFill>
                <a:latin typeface="Aptos"/>
              </a:rPr>
              <a:t>SQL in Databricks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49039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913631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99A6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9534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73F35"/>
                </a:solidFill>
                <a:latin typeface="Aptos"/>
              </a:rPr>
              <a:t>Summarise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315968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6C"/>
                </a:solidFill>
                <a:latin typeface="Aptos"/>
              </a:rPr>
              <a:t>Excel pivot tables &amp; charts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749039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3913631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99A6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89534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73F35"/>
                </a:solidFill>
                <a:latin typeface="Aptos"/>
              </a:rPr>
              <a:t>Visualise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315968"/>
            <a:ext cx="233172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200" b="0" dirty="0">
                <a:solidFill>
                  <a:srgbClr val="64706C"/>
                </a:solidFill>
                <a:latin typeface="Aptos"/>
              </a:rPr>
              <a:t>Power BI </a:t>
            </a:r>
            <a:r>
              <a:rPr lang="en-US" sz="1200" dirty="0">
                <a:solidFill>
                  <a:srgbClr val="64706C"/>
                </a:solidFill>
                <a:latin typeface="Aptos"/>
              </a:rPr>
              <a:t>, </a:t>
            </a:r>
            <a:r>
              <a:rPr sz="1200" b="0" dirty="0">
                <a:solidFill>
                  <a:srgbClr val="64706C"/>
                </a:solidFill>
                <a:latin typeface="Aptos"/>
              </a:rPr>
              <a:t>Looker </a:t>
            </a:r>
            <a:r>
              <a:rPr sz="1200" b="0" dirty="0" err="1">
                <a:solidFill>
                  <a:srgbClr val="64706C"/>
                </a:solidFill>
                <a:latin typeface="Aptos"/>
              </a:rPr>
              <a:t>Studio</a:t>
            </a:r>
            <a:r>
              <a:rPr lang="en-US" sz="1200" dirty="0" err="1">
                <a:solidFill>
                  <a:srgbClr val="64706C"/>
                </a:solidFill>
                <a:latin typeface="Aptos"/>
              </a:rPr>
              <a:t>,databricks,lovable,excel</a:t>
            </a:r>
            <a:endParaRPr sz="1200" b="0" dirty="0" err="1">
              <a:solidFill>
                <a:srgbClr val="64706C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75320" y="3749039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3913631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99A6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89534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73F35"/>
                </a:solidFill>
                <a:latin typeface="Aptos"/>
              </a:rPr>
              <a:t>Present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4315968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6C"/>
                </a:solidFill>
                <a:latin typeface="Aptos"/>
              </a:rPr>
              <a:t>Insights and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3F35"/>
                </a:solidFill>
                <a:latin typeface="Aptos"/>
              </a:rPr>
              <a:t>3. Data &amp; Key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05840" cy="64008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6C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01168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6B5B"/>
                </a:solidFill>
                <a:latin typeface="Aptos"/>
              </a:rPr>
              <a:t>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0604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D2B"/>
                </a:solidFill>
                <a:latin typeface="Aptos"/>
              </a:defRPr>
            </a:pPr>
            <a:r>
              <a:t>transaction_id</a:t>
            </a:r>
          </a:p>
          <a:p>
            <a:pPr>
              <a:spcAft>
                <a:spcPts val="1000"/>
              </a:spcAft>
              <a:defRPr sz="1400">
                <a:solidFill>
                  <a:srgbClr val="232D2B"/>
                </a:solidFill>
                <a:latin typeface="Aptos"/>
              </a:defRPr>
            </a:pPr>
            <a:r>
              <a:t>transaction_date</a:t>
            </a:r>
          </a:p>
          <a:p>
            <a:pPr>
              <a:spcAft>
                <a:spcPts val="1000"/>
              </a:spcAft>
              <a:defRPr sz="1400">
                <a:solidFill>
                  <a:srgbClr val="232D2B"/>
                </a:solidFill>
                <a:latin typeface="Aptos"/>
              </a:defRPr>
            </a:pPr>
            <a:r>
              <a:t>transaction_qty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21607" y="201168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6B5B"/>
                </a:solidFill>
                <a:latin typeface="Aptos"/>
              </a:rPr>
              <a:t>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60604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D2B"/>
                </a:solidFill>
                <a:latin typeface="Aptos"/>
              </a:defRPr>
            </a:pPr>
            <a:r>
              <a:t>product_category</a:t>
            </a:r>
          </a:p>
          <a:p>
            <a:pPr>
              <a:spcAft>
                <a:spcPts val="1000"/>
              </a:spcAft>
              <a:defRPr sz="1400">
                <a:solidFill>
                  <a:srgbClr val="232D2B"/>
                </a:solidFill>
                <a:latin typeface="Aptos"/>
              </a:defRPr>
            </a:pPr>
            <a:r>
              <a:t>product_type</a:t>
            </a:r>
          </a:p>
          <a:p>
            <a:pPr>
              <a:spcAft>
                <a:spcPts val="1000"/>
              </a:spcAft>
              <a:defRPr sz="1400">
                <a:solidFill>
                  <a:srgbClr val="232D2B"/>
                </a:solidFill>
                <a:latin typeface="Aptos"/>
              </a:defRPr>
            </a:pPr>
            <a:r>
              <a:t>product_detail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201168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6B5B"/>
                </a:solidFill>
                <a:latin typeface="Aptos"/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60604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D2B"/>
                </a:solidFill>
                <a:latin typeface="Aptos"/>
              </a:defRPr>
            </a:pPr>
            <a:r>
              <a:t>store_location</a:t>
            </a:r>
          </a:p>
          <a:p>
            <a:pPr>
              <a:spcAft>
                <a:spcPts val="1000"/>
              </a:spcAft>
              <a:defRPr sz="1400">
                <a:solidFill>
                  <a:srgbClr val="232D2B"/>
                </a:solidFill>
                <a:latin typeface="Aptos"/>
              </a:defRPr>
            </a:pPr>
            <a:r>
              <a:t>Day_name</a:t>
            </a:r>
          </a:p>
          <a:p>
            <a:pPr>
              <a:spcAft>
                <a:spcPts val="1000"/>
              </a:spcAft>
              <a:defRPr sz="1400">
                <a:solidFill>
                  <a:srgbClr val="232D2B"/>
                </a:solidFill>
                <a:latin typeface="Aptos"/>
              </a:defRPr>
            </a:pPr>
            <a:r>
              <a:t>time_classification</a:t>
            </a:r>
          </a:p>
          <a:p>
            <a:pPr>
              <a:spcAft>
                <a:spcPts val="1000"/>
              </a:spcAft>
              <a:defRPr sz="1400">
                <a:solidFill>
                  <a:srgbClr val="232D2B"/>
                </a:solidFill>
                <a:latin typeface="Aptos"/>
              </a:defRPr>
            </a:pPr>
            <a:r>
              <a:t>day_classification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59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82328" y="201168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6B5B"/>
                </a:solidFill>
                <a:latin typeface="Aptos"/>
              </a:rPr>
              <a:t>MEASURES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2328" y="260604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D2B"/>
                </a:solidFill>
                <a:latin typeface="Aptos"/>
              </a:defRPr>
            </a:pPr>
            <a:r>
              <a:t>revenue</a:t>
            </a:r>
          </a:p>
          <a:p>
            <a:pPr>
              <a:spcAft>
                <a:spcPts val="1000"/>
              </a:spcAft>
              <a:defRPr sz="1400">
                <a:solidFill>
                  <a:srgbClr val="232D2B"/>
                </a:solidFill>
                <a:latin typeface="Aptos"/>
              </a:defRPr>
            </a:pPr>
            <a:r>
              <a:t>number_of_sales</a:t>
            </a:r>
          </a:p>
          <a:p>
            <a:pPr>
              <a:spcAft>
                <a:spcPts val="1000"/>
              </a:spcAft>
              <a:defRPr sz="1400">
                <a:solidFill>
                  <a:srgbClr val="232D2B"/>
                </a:solidFill>
                <a:latin typeface="Aptos"/>
              </a:defRPr>
            </a:pPr>
            <a:r>
              <a:t>unique_products</a:t>
            </a:r>
          </a:p>
          <a:p>
            <a:pPr>
              <a:spcAft>
                <a:spcPts val="1000"/>
              </a:spcAft>
              <a:defRPr sz="1400">
                <a:solidFill>
                  <a:srgbClr val="232D2B"/>
                </a:solidFill>
                <a:latin typeface="Aptos"/>
              </a:defRPr>
            </a:pPr>
            <a:r>
              <a:t>number_of_stores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06C"/>
                </a:solidFill>
                <a:latin typeface="Aptos"/>
              </a:rPr>
              <a:t>Revenue was analysed alongside units sold and distinct transactions to avoid relying on a single performance measure.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700" b="1">
                <a:solidFill>
                  <a:srgbClr val="4E2C1B"/>
                </a:solidFill>
                <a:latin typeface="Aptos Display"/>
              </a:rPr>
              <a:t>Sales Performance</a:t>
            </a:r>
            <a:endParaRPr lang="en-US" sz="2700" b="1">
              <a:solidFill>
                <a:srgbClr val="4E2C1B"/>
              </a:solidFill>
              <a:latin typeface="Aptos Display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914400" cy="54864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(8).png"/>
          <p:cNvPicPr>
            <a:picLocks noChangeAspect="1"/>
          </p:cNvPicPr>
          <p:nvPr/>
        </p:nvPicPr>
        <p:blipFill>
          <a:blip r:embed="rId2"/>
          <a:srcRect t="17530" b="17530"/>
          <a:stretch>
            <a:fillRect/>
          </a:stretch>
        </p:blipFill>
        <p:spPr>
          <a:xfrm>
            <a:off x="640080" y="1325880"/>
            <a:ext cx="10881360" cy="2057400"/>
          </a:xfrm>
          <a:prstGeom prst="rect">
            <a:avLst/>
          </a:prstGeom>
        </p:spPr>
      </p:pic>
      <p:pic>
        <p:nvPicPr>
          <p:cNvPr id="5" name="Picture 4" descr="image(4).png"/>
          <p:cNvPicPr>
            <a:picLocks noChangeAspect="1"/>
          </p:cNvPicPr>
          <p:nvPr/>
        </p:nvPicPr>
        <p:blipFill>
          <a:blip r:embed="rId3"/>
          <a:srcRect t="7639" b="7639"/>
          <a:stretch>
            <a:fillRect/>
          </a:stretch>
        </p:blipFill>
        <p:spPr>
          <a:xfrm>
            <a:off x="640080" y="3566160"/>
            <a:ext cx="5303520" cy="2514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rcRect t="11070" b="11070"/>
          <a:stretch>
            <a:fillRect/>
          </a:stretch>
        </p:blipFill>
        <p:spPr>
          <a:xfrm>
            <a:off x="6080760" y="3566160"/>
            <a:ext cx="530352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700" b="1">
                <a:solidFill>
                  <a:srgbClr val="4E2C1B"/>
                </a:solidFill>
                <a:latin typeface="Aptos Display"/>
              </a:rPr>
              <a:t>Sales Performance </a:t>
            </a:r>
            <a:endParaRPr lang="en-US" sz="2700" b="1">
              <a:solidFill>
                <a:srgbClr val="4E2C1B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05840" cy="64008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6C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F35"/>
                </a:solidFill>
                <a:latin typeface="Aptos"/>
              </a:rPr>
              <a:t>Revenue by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4983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6C"/>
                </a:solidFill>
                <a:latin typeface="Aptos"/>
              </a:rPr>
              <a:t>Track revenue trends across the reporting period.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F35"/>
                </a:solidFill>
                <a:latin typeface="Aptos"/>
              </a:rPr>
              <a:t>Sales by Product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39112"/>
            <a:ext cx="4983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6C"/>
                </a:solidFill>
                <a:latin typeface="Aptos"/>
              </a:rPr>
              <a:t>Compare the contribution of each category.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F35"/>
                </a:solidFill>
                <a:latin typeface="Aptos"/>
              </a:rPr>
              <a:t>Sales by Store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82112"/>
            <a:ext cx="4983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6C"/>
                </a:solidFill>
                <a:latin typeface="Aptos"/>
              </a:rPr>
              <a:t>Identify differences between store locations.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F35"/>
                </a:solidFill>
                <a:latin typeface="Aptos"/>
              </a:rPr>
              <a:t>Top 10 Products by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82112"/>
            <a:ext cx="4983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6C"/>
                </a:solidFill>
                <a:latin typeface="Aptos"/>
              </a:rPr>
              <a:t>Highlight the products contributing most revenue.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F35"/>
                </a:solidFill>
                <a:latin typeface="Aptos"/>
              </a:rPr>
              <a:t>Sales by Day &amp;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25112"/>
            <a:ext cx="4983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6C"/>
                </a:solidFill>
                <a:latin typeface="Aptos"/>
              </a:rPr>
              <a:t>Compare revenue across weekdays and time periods.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39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F35"/>
                </a:solidFill>
                <a:latin typeface="Aptos"/>
              </a:rPr>
              <a:t>Quantity Sold by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25112"/>
            <a:ext cx="4983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6C"/>
                </a:solidFill>
                <a:latin typeface="Aptos"/>
              </a:rPr>
              <a:t>Identify high-volume product types.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F35"/>
                </a:solidFill>
                <a:latin typeface="Aptos"/>
              </a:rPr>
              <a:t>Sales by Day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68112"/>
            <a:ext cx="4983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6C"/>
                </a:solidFill>
                <a:latin typeface="Aptos"/>
              </a:rPr>
              <a:t>Compare weekday and weekend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3F35"/>
                </a:solidFill>
                <a:latin typeface="Aptos"/>
              </a:rPr>
              <a:t>6. Interactive Dashboard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05840" cy="64008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6C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5486400" cy="28520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32D2B"/>
                </a:solidFill>
                <a:latin typeface="Aptos"/>
              </a:defRPr>
            </a:pPr>
            <a:r>
              <a:rPr dirty="0"/>
              <a:t>Date range — view a selected reporting </a:t>
            </a:r>
            <a:r>
              <a:rPr lang="en-US" dirty="0"/>
              <a:t>period 2023-</a:t>
            </a:r>
            <a:r>
              <a:rPr lang="en-US"/>
              <a:t>01-01 to 2023-06-30</a:t>
            </a:r>
            <a:r>
              <a:rPr dirty="0"/>
              <a:t>.</a:t>
            </a:r>
          </a:p>
          <a:p>
            <a:pPr>
              <a:spcAft>
                <a:spcPts val="1600"/>
              </a:spcAft>
              <a:defRPr sz="1800">
                <a:solidFill>
                  <a:srgbClr val="232D2B"/>
                </a:solidFill>
                <a:latin typeface="Aptos"/>
              </a:defRPr>
            </a:pPr>
            <a:r>
              <a:t>Store location — focus on an individual location.</a:t>
            </a:r>
          </a:p>
          <a:p>
            <a:pPr>
              <a:spcAft>
                <a:spcPts val="1600"/>
              </a:spcAft>
              <a:defRPr sz="1800">
                <a:solidFill>
                  <a:srgbClr val="232D2B"/>
                </a:solidFill>
                <a:latin typeface="Aptos"/>
              </a:defRPr>
            </a:pPr>
            <a:r>
              <a:t>Product category — compare broad product groups.</a:t>
            </a:r>
          </a:p>
          <a:p>
            <a:pPr>
              <a:spcAft>
                <a:spcPts val="1600"/>
              </a:spcAft>
              <a:defRPr sz="1800">
                <a:solidFill>
                  <a:srgbClr val="232D2B"/>
                </a:solidFill>
                <a:latin typeface="Aptos"/>
              </a:defRPr>
            </a:pPr>
            <a:r>
              <a:t>Product type — explore individual product types.</a:t>
            </a:r>
          </a:p>
          <a:p>
            <a:pPr>
              <a:spcAft>
                <a:spcPts val="1600"/>
              </a:spcAft>
              <a:defRPr sz="1800">
                <a:solidFill>
                  <a:srgbClr val="232D2B"/>
                </a:solidFill>
                <a:latin typeface="Aptos"/>
              </a:defRPr>
            </a:pPr>
            <a:r>
              <a:t>Day classification — compare weekdays and weekends.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297680" cy="3291840"/>
          </a:xfrm>
          <a:prstGeom prst="roundRect">
            <a:avLst/>
          </a:prstGeom>
          <a:solidFill>
            <a:srgbClr val="E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21488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5B"/>
                </a:solidFill>
                <a:latin typeface="Aptos"/>
              </a:rPr>
              <a:t>WHY FILTERS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697480"/>
            <a:ext cx="3566160" cy="12618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900" b="1">
                <a:solidFill>
                  <a:srgbClr val="173F35"/>
                </a:solidFill>
                <a:latin typeface="Aptos"/>
              </a:rPr>
              <a:t>This helps us </a:t>
            </a:r>
            <a:r>
              <a:rPr sz="1900" b="1">
                <a:solidFill>
                  <a:srgbClr val="173F35"/>
                </a:solidFill>
                <a:latin typeface="Aptos"/>
              </a:rPr>
              <a:t>investigate </a:t>
            </a:r>
            <a:r>
              <a:rPr sz="1900" b="1" dirty="0">
                <a:solidFill>
                  <a:srgbClr val="173F35"/>
                </a:solidFill>
                <a:latin typeface="Aptos"/>
              </a:rPr>
              <a:t>questions such as which store or product group performed best during a chosen period.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4E2C1B"/>
                </a:solidFill>
                <a:latin typeface="Aptos Display"/>
              </a:rPr>
              <a:t>What the Sales Data Tells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05840" cy="64008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6C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6B5B"/>
                </a:solidFill>
                <a:latin typeface="Aptos"/>
              </a:rPr>
              <a:t>Monthly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64592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A3431"/>
                </a:solidFill>
                <a:latin typeface="Aptos"/>
              </a:rPr>
              <a:t>June had the highest revenue (166,486), while February had the lowest (76,145).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6B5B"/>
                </a:solidFill>
                <a:latin typeface="Aptos"/>
              </a:rPr>
              <a:t>Product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496312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A3431"/>
                </a:solidFill>
                <a:latin typeface="Aptos"/>
              </a:rPr>
              <a:t>Coffee was the top category (269,952; 38.6% of revenue). Barista Espresso was the top product by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46704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6B5B"/>
                </a:solidFill>
                <a:latin typeface="Aptos"/>
              </a:rPr>
              <a:t>Store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346704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A3431"/>
                </a:solidFill>
                <a:latin typeface="Aptos"/>
              </a:rPr>
              <a:t>Hell's Kitchen had the highest revenue (236,511; 33.8%); Lower Manhattan had the lowest.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97096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6B5B"/>
                </a:solidFill>
                <a:latin typeface="Aptos"/>
              </a:rPr>
              <a:t>Time and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197096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A3431"/>
                </a:solidFill>
                <a:latin typeface="Aptos"/>
              </a:rPr>
              <a:t>Monday was the highest-revenue day (101,677); Morning was the strongest time period (388,289; 55.6% of revenue).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4748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6B5B"/>
                </a:solidFill>
                <a:latin typeface="Aptos"/>
              </a:rPr>
              <a:t>Units vs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5047488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A3431"/>
                </a:solidFill>
                <a:latin typeface="Aptos"/>
              </a:rPr>
              <a:t>Not exactly. Brewed Chai Tea and Gourmet brewed coffee lead in quantity, while Barista Espresso leads in revenue.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3F35"/>
                </a:solidFill>
                <a:latin typeface="Aptos"/>
              </a:rPr>
              <a:t>8.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05840" cy="64008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6C"/>
                </a:solidFill>
                <a:latin typeface="Aptos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664208"/>
            <a:ext cx="384048" cy="384048"/>
          </a:xfrm>
          <a:prstGeom prst="ellipse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164592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F35"/>
                </a:solidFill>
                <a:latin typeface="Aptos"/>
              </a:rPr>
              <a:t>Stock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645920"/>
            <a:ext cx="7589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D2B"/>
                </a:solidFill>
                <a:latin typeface="Aptos"/>
              </a:rPr>
              <a:t>Use quantity sold by product to support replenishment decisions.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532888"/>
            <a:ext cx="384048" cy="384048"/>
          </a:xfrm>
          <a:prstGeom prst="ellipse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251460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F35"/>
                </a:solidFill>
                <a:latin typeface="Aptos"/>
              </a:rPr>
              <a:t>Product promotion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14600"/>
            <a:ext cx="7589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D2B"/>
                </a:solidFill>
                <a:latin typeface="Aptos"/>
              </a:rPr>
              <a:t>Promote products with lower sales after checking margin and seasonality.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401568"/>
            <a:ext cx="384048" cy="384048"/>
          </a:xfrm>
          <a:prstGeom prst="ellipse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33832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F35"/>
                </a:solidFill>
                <a:latin typeface="Aptos"/>
              </a:rPr>
              <a:t>Staffing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83280"/>
            <a:ext cx="7589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D2B"/>
                </a:solidFill>
                <a:latin typeface="Aptos"/>
              </a:rPr>
              <a:t>Use day and time patterns to plan staffing for busy periods.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270247"/>
            <a:ext cx="384048" cy="384048"/>
          </a:xfrm>
          <a:prstGeom prst="ellipse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4251959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F35"/>
                </a:solidFill>
                <a:latin typeface="Aptos"/>
              </a:rPr>
              <a:t>Store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251959"/>
            <a:ext cx="7589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D2B"/>
                </a:solidFill>
                <a:latin typeface="Aptos"/>
              </a:rPr>
              <a:t>Compare store results and investigate differences before taking action.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138927"/>
            <a:ext cx="384048" cy="384048"/>
          </a:xfrm>
          <a:prstGeom prst="ellipse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512064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F35"/>
                </a:solidFill>
                <a:latin typeface="Aptos"/>
              </a:rPr>
              <a:t>Ongoing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120640"/>
            <a:ext cx="7589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D2B"/>
                </a:solidFill>
                <a:latin typeface="Aptos"/>
              </a:rPr>
              <a:t>Refresh the dashboard regularly and track KPIs over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F35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61872"/>
            <a:ext cx="1005840" cy="54864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A3431"/>
                </a:solidFill>
                <a:latin typeface="Aptos"/>
              </a:rPr>
              <a:t>The Bright Coffee Shop Sales Analysis examined sales data from January to June 2023 using dashboards and visualisations to understand revenue, product performance, store performance, and customer purchasing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0789920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A3431"/>
                </a:solidFill>
                <a:latin typeface="Aptos"/>
              </a:rPr>
              <a:t>The results showed that June recorded the highest monthly revenue, Coffee was the leading product category, Hell's Kitchen was the highest-revenue store, and morning was the strongest sales period. The quantity and revenue charts also showed that the most frequently purchased products do not always rank first by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789920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A3431"/>
                </a:solidFill>
                <a:latin typeface="Aptos"/>
              </a:rPr>
              <a:t>Based on these findings, Bright Coffee Shop should maintain sufficient stock of popular products, plan staff and preparation around peak morning demand, review practices at the strongest-performing store, and use targeted promotions to encourage sales during quieter periods. These actions can support better inventory planning and more informed business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5156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73F35"/>
                </a:solidFill>
                <a:latin typeface="Aptos"/>
              </a:rPr>
              <a:t>Overall, the analysis turns historical sales data into practical actions for improving operations and supporting future growth.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3F35"/>
                </a:solidFill>
                <a:latin typeface="Aptos"/>
              </a:rPr>
              <a:t>9. Dashboard Results — KPIs &amp; Monthly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05840" cy="54864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06C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00200"/>
            <a:ext cx="3429000" cy="4023360"/>
          </a:xfrm>
          <a:prstGeom prst="roundRect">
            <a:avLst/>
          </a:prstGeom>
          <a:solidFill>
            <a:srgbClr val="E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1709928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6B5B"/>
                </a:solidFill>
                <a:latin typeface="Aptos"/>
              </a:rPr>
              <a:t>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2029967"/>
            <a:ext cx="309981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D2B"/>
                </a:solidFill>
                <a:latin typeface="Aptos"/>
              </a:rPr>
              <a:t>• Total revenue is 698,812.33.
• The dashboard reports 214,470 units sold and 149,116 transactions.
• Average revenue per transaction is approximately 4.69.
• Monthly revenue rises overall from February through June, with a small dip in February. June is the highest month shown.</a:t>
            </a:r>
          </a:p>
        </p:txBody>
      </p:sp>
      <p:pic>
        <p:nvPicPr>
          <p:cNvPr id="11" name="Picture 10" descr="image(5).png"/>
          <p:cNvPicPr>
            <a:picLocks noChangeAspect="1"/>
          </p:cNvPicPr>
          <p:nvPr/>
        </p:nvPicPr>
        <p:blipFill>
          <a:blip r:embed="rId2"/>
          <a:srcRect t="222" b="222"/>
          <a:stretch>
            <a:fillRect/>
          </a:stretch>
        </p:blipFill>
        <p:spPr>
          <a:xfrm>
            <a:off x="594360" y="1417320"/>
            <a:ext cx="73152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3F35"/>
                </a:solidFill>
                <a:latin typeface="Aptos"/>
              </a:rPr>
              <a:t>10. Product &amp; Store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05840" cy="54864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06C"/>
                </a:solidFill>
                <a:latin typeface="Aptos"/>
              </a:rPr>
              <a:t>12</a:t>
            </a:r>
          </a:p>
        </p:txBody>
      </p:sp>
      <p:pic>
        <p:nvPicPr>
          <p:cNvPr id="6" name="Picture 5" descr="image(1).png"/>
          <p:cNvPicPr>
            <a:picLocks noChangeAspect="1"/>
          </p:cNvPicPr>
          <p:nvPr/>
        </p:nvPicPr>
        <p:blipFill>
          <a:blip r:embed="rId2"/>
          <a:srcRect l="12596" r="12596"/>
          <a:stretch>
            <a:fillRect/>
          </a:stretch>
        </p:blipFill>
        <p:spPr>
          <a:xfrm>
            <a:off x="502920" y="1417320"/>
            <a:ext cx="7498079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83879" y="1554480"/>
            <a:ext cx="3383280" cy="4206240"/>
          </a:xfrm>
          <a:prstGeom prst="roundRect">
            <a:avLst/>
          </a:prstGeom>
          <a:solidFill>
            <a:srgbClr val="E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48471" y="1664207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6B5B"/>
                </a:solidFill>
                <a:latin typeface="Aptos"/>
              </a:rPr>
              <a:t>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1984248"/>
            <a:ext cx="305409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D2B"/>
                </a:solidFill>
                <a:latin typeface="Aptos"/>
              </a:rPr>
              <a:t>• Coffee is the largest revenue category in the category chart; Tea is also a major contributor.
• The three store locations have broadly similar total revenue, with Hell’s Kitchen slightly highest in the screenshot.
• Barista Espresso is the top product by revenue, followed by Brewed Chai Tea and Hot Chocolate.
• Use these results to guide product promotion and stock planning.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3F35"/>
                </a:solidFill>
                <a:latin typeface="Aptos"/>
              </a:rPr>
              <a:t>11. Sales Patterns — Day, Time &amp; Quantity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05840" cy="54864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06C"/>
                </a:solidFill>
                <a:latin typeface="Aptos"/>
              </a:rPr>
              <a:t>13</a:t>
            </a:r>
          </a:p>
        </p:txBody>
      </p:sp>
      <p:pic>
        <p:nvPicPr>
          <p:cNvPr id="6" name="Picture 5" descr="image(2).png"/>
          <p:cNvPicPr>
            <a:picLocks noChangeAspect="1"/>
          </p:cNvPicPr>
          <p:nvPr/>
        </p:nvPicPr>
        <p:blipFill>
          <a:blip r:embed="rId2"/>
          <a:srcRect l="11176" r="11176"/>
          <a:stretch>
            <a:fillRect/>
          </a:stretch>
        </p:blipFill>
        <p:spPr>
          <a:xfrm>
            <a:off x="502920" y="1417320"/>
            <a:ext cx="7498079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83879" y="1554480"/>
            <a:ext cx="3383280" cy="4206240"/>
          </a:xfrm>
          <a:prstGeom prst="roundRect">
            <a:avLst/>
          </a:prstGeom>
          <a:solidFill>
            <a:srgbClr val="E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48471" y="1664207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6B5B"/>
                </a:solidFill>
                <a:latin typeface="Aptos"/>
              </a:rPr>
              <a:t>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1984248"/>
            <a:ext cx="305409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D2B"/>
                </a:solidFill>
                <a:latin typeface="Aptos"/>
              </a:rPr>
              <a:t>• Morning has the highest revenue among the displayed time periods; Evening is the lowest.
• Weekday revenue is substantially higher than weekend revenue in the current chart.
• Daily revenue appears fairly even across the seven days, with Friday among the highest days shown.
• Brewed Chai Tea and Barista Espresso lead the quantity chart, indicating strong unit demand.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4E2C1B"/>
                </a:solidFill>
                <a:latin typeface="Aptos Display"/>
              </a:rPr>
              <a:t>Business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05840" cy="54864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06C"/>
                </a:solidFill>
                <a:latin typeface="Aptos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591056"/>
            <a:ext cx="384048" cy="384048"/>
          </a:xfrm>
          <a:prstGeom prst="ellipse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53312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F35"/>
                </a:solidFill>
                <a:latin typeface="Aptos"/>
              </a:rPr>
              <a:t>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55448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2B"/>
                </a:solidFill>
                <a:latin typeface="Aptos"/>
              </a:rPr>
              <a:t>Prioritise stock availability for Barista Espresso and Brewed Chai Tea, which lead the displayed revenue/quantity charts.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32304"/>
            <a:ext cx="384048" cy="384048"/>
          </a:xfrm>
          <a:prstGeom prst="ellipse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53312" y="2395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F35"/>
                </a:solidFill>
                <a:latin typeface="Aptos"/>
              </a:rPr>
              <a:t>Promotions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3957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2B"/>
                </a:solidFill>
                <a:latin typeface="Aptos"/>
              </a:rPr>
              <a:t>Review lower-revenue categories and products for targeted promotions, while checking profit margins before discounting.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273552"/>
            <a:ext cx="384048" cy="384048"/>
          </a:xfrm>
          <a:prstGeom prst="ellipse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3312" y="32369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F35"/>
                </a:solidFill>
                <a:latin typeface="Aptos"/>
              </a:rPr>
              <a:t>Staffing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23697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2B"/>
                </a:solidFill>
                <a:latin typeface="Aptos"/>
              </a:rPr>
              <a:t>Use the strong morning revenue pattern to review staffing and preparation levels during morning hours.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114800"/>
            <a:ext cx="384048" cy="384048"/>
          </a:xfrm>
          <a:prstGeom prst="ellipse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53312" y="40782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F35"/>
                </a:solidFill>
                <a:latin typeface="Aptos"/>
              </a:rPr>
              <a:t>Store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07822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2B"/>
                </a:solidFill>
                <a:latin typeface="Aptos"/>
              </a:rPr>
              <a:t>Compare store operations and investigate why Hell’s Kitchen appears slightly ahead in the current view.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956048"/>
            <a:ext cx="384048" cy="384048"/>
          </a:xfrm>
          <a:prstGeom prst="ellipse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53312" y="49194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F35"/>
                </a:solidFill>
                <a:latin typeface="Aptos"/>
              </a:rPr>
              <a:t>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919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2B"/>
                </a:solidFill>
                <a:latin typeface="Aptos"/>
              </a:rPr>
              <a:t>Use the date and category filters to compare periods consistently; validate totals after changing filters.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5156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endParaRPr lang="en-US" sz="1000" dirty="0">
              <a:solidFill>
                <a:srgbClr val="64706C"/>
              </a:solidFill>
              <a:latin typeface="Aptos"/>
            </a:endParaRPr>
          </a:p>
        </p:txBody>
      </p:sp>
      <p:pic>
        <p:nvPicPr>
          <p:cNvPr id="22" name="Picture 21" descr="image(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6751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4E2C1B"/>
                </a:solidFill>
                <a:latin typeface="Aptos Display"/>
              </a:rPr>
              <a:t>Business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60120" cy="54864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06C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4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527048"/>
            <a:ext cx="3136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F422A"/>
                </a:solidFill>
                <a:latin typeface="Aptos"/>
              </a:rPr>
              <a:t>Monthly 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911095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121408"/>
            <a:ext cx="31363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D2B"/>
                </a:solidFill>
                <a:latin typeface="Aptos"/>
              </a:rPr>
              <a:t>June was the highest-revenue month (166,486); February was the lowest (76,145), a gap of about 118.6%.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724912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IMPLICATION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935224"/>
            <a:ext cx="31363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32D2B"/>
                </a:solidFill>
                <a:latin typeface="Aptos"/>
              </a:rPr>
              <a:t>Revenue changes notably month to month, affecting inventory and staffing needs.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493008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703320"/>
            <a:ext cx="3136392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32D2B"/>
                </a:solidFill>
                <a:latin typeface="Aptos"/>
              </a:rPr>
              <a:t>Plan inventory and rosters around peak months such as June, and run promotions in slower months such as February.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2232" y="141732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4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88536" y="1527048"/>
            <a:ext cx="3136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F422A"/>
                </a:solidFill>
                <a:latin typeface="Aptos"/>
              </a:rPr>
              <a:t>Best product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1911095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2121408"/>
            <a:ext cx="31363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D2B"/>
                </a:solidFill>
                <a:latin typeface="Aptos"/>
              </a:rPr>
              <a:t>Coffee leads with 269,952, representing 38.6% of total revenue.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2724912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IMPLICATION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2935224"/>
            <a:ext cx="31363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32D2B"/>
                </a:solidFill>
                <a:latin typeface="Aptos"/>
              </a:rPr>
              <a:t>The business depends heavily on Coffee; supply or quality problems could affect revenue most.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3493008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3703320"/>
            <a:ext cx="3136392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32D2B"/>
                </a:solidFill>
                <a:latin typeface="Aptos"/>
              </a:rPr>
              <a:t>Protect Coffee supply and use it as the anchor for bundles with smaller categories.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81544" y="141732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4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27848" y="1527048"/>
            <a:ext cx="3136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F422A"/>
                </a:solidFill>
                <a:latin typeface="Aptos"/>
              </a:rPr>
              <a:t>Top store 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1911095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2121408"/>
            <a:ext cx="31363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D2B"/>
                </a:solidFill>
                <a:latin typeface="Aptos"/>
              </a:rPr>
              <a:t>Hell's Kitchen generated the most revenue (236,511; 33.8%); Lower Manhattan was the lowest at approximately 32.9%.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2724912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IMPLICATION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7848" y="2935224"/>
            <a:ext cx="31363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32D2B"/>
                </a:solidFill>
                <a:latin typeface="Aptos"/>
              </a:rPr>
              <a:t>Store performance is fairly balanced across locations.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3493008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RECOMMENDATION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3703320"/>
            <a:ext cx="3136392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32D2B"/>
                </a:solidFill>
                <a:latin typeface="Aptos"/>
              </a:rPr>
              <a:t>Study what works at Hell's Kitchen (menu, hours, staffing) and test suitable improvements at Lower Manhattan.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16052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4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" y="4270248"/>
            <a:ext cx="3136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F422A"/>
                </a:solidFill>
                <a:latin typeface="Aptos"/>
              </a:rPr>
              <a:t>Top revenue products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4654296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INSIGHT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4864608"/>
            <a:ext cx="31363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D2B"/>
                </a:solidFill>
                <a:latin typeface="Aptos"/>
              </a:rPr>
              <a:t>Barista Espresso, Brewed Chai Tea, and Hot Chocolate together contribute 34.5% of revenue.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" y="5468112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IMPLICATION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" y="5678424"/>
            <a:ext cx="31363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32D2B"/>
                </a:solidFill>
                <a:latin typeface="Aptos"/>
              </a:rPr>
              <a:t>A small group of products drives a sizeable share of sales.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" y="6236208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RECOMMENDATION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42232" y="416052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4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88536" y="4270248"/>
            <a:ext cx="3136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F422A"/>
                </a:solidFill>
                <a:latin typeface="Aptos"/>
              </a:rPr>
              <a:t>Strongest 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88536" y="4654296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INSIGHT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88536" y="4864608"/>
            <a:ext cx="31363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D2B"/>
                </a:solidFill>
                <a:latin typeface="Aptos"/>
              </a:rPr>
              <a:t>Monday is the highest-revenue day (101,677); Saturday is the weakest.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88536" y="5468112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IMPLICATION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88536" y="5678424"/>
            <a:ext cx="31363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32D2B"/>
                </a:solidFill>
                <a:latin typeface="Aptos"/>
              </a:rPr>
              <a:t>Demand shifts across the week.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88536" y="6236208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RECOMMENDATION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81544" y="416052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4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27848" y="4270248"/>
            <a:ext cx="3136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F422A"/>
                </a:solidFill>
                <a:latin typeface="Aptos"/>
              </a:rPr>
              <a:t>Peak time of 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7848" y="4654296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INSIGHT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7848" y="4864608"/>
            <a:ext cx="31363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D2B"/>
                </a:solidFill>
                <a:latin typeface="Aptos"/>
              </a:rPr>
              <a:t>Morning is the strongest period (388,289; 55.6% of revenue).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27848" y="5468112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IMPLICATION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27848" y="5678424"/>
            <a:ext cx="31363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32D2B"/>
                </a:solidFill>
                <a:latin typeface="Aptos"/>
              </a:rPr>
              <a:t>Most customers buy in the morning, so service speed is especially important then.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7848" y="6236208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9A6"/>
                </a:solidFill>
                <a:latin typeface="Aptos"/>
              </a:rPr>
              <a:t>RECOMMENDATION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3F35"/>
                </a:solidFill>
                <a:latin typeface="Aptos"/>
              </a:rPr>
              <a:t>14. Quantity Sold — Product Demand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60120" cy="54864"/>
          </a:xfrm>
          <a:prstGeom prst="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06C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73F35"/>
                </a:solidFill>
                <a:latin typeface="Aptos"/>
              </a:rPr>
              <a:t>What the chart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32D2B"/>
                </a:solidFill>
                <a:latin typeface="Aptos"/>
              </a:rPr>
              <a:t>Brewed Chai Tea, Gourmet brewed coffee, and Barista Espresso are the highest-volume products in the displayed chart. Several products appear to have very low unit counts compared with these leaders.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73F35"/>
                </a:solidFill>
                <a:latin typeface="Aptos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D2B"/>
                </a:solidFill>
                <a:latin typeface="Aptos"/>
              </a:rPr>
              <a:t>Stocking decisions should consider unit demand as well as revenue. A product can sell many units without generating the highest revenue, so both measures are useful.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73F35"/>
                </a:solidFill>
                <a:latin typeface="Aptos"/>
              </a:rP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864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32D2B"/>
                </a:solidFill>
                <a:latin typeface="Aptos"/>
              </a:rPr>
              <a:t>Monitor stock levels for the highest-volume products, review slow-moving items, and compare sales volume with profit margin before changing prices or promotions.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4E2C1B"/>
                </a:solidFill>
                <a:latin typeface="Aptos Display"/>
              </a:rPr>
              <a:t>Decisions for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777240" cy="50292"/>
          </a:xfrm>
          <a:prstGeom prst="rect">
            <a:avLst/>
          </a:prstGeom>
          <a:solidFill>
            <a:srgbClr val="0099A6"/>
          </a:solidFill>
          <a:ln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8645E"/>
                </a:solidFill>
                <a:latin typeface="Aptos"/>
              </a:rPr>
              <a:t>Recommended next steps based on the January–June 2023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66928" cy="566928"/>
          </a:xfrm>
          <a:prstGeom prst="roundRect">
            <a:avLst/>
          </a:prstGeom>
          <a:solidFill>
            <a:srgbClr val="EFE4D5"/>
          </a:solidFill>
          <a:ln>
            <a:solidFill>
              <a:srgbClr val="EF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56692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4E2C1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81912"/>
            <a:ext cx="9784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E2C1B"/>
                </a:solidFill>
                <a:latin typeface="Aptos"/>
              </a:rPr>
              <a:t>Protect availability of top sellers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47672"/>
            <a:ext cx="9784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D2A26"/>
                </a:solidFill>
                <a:latin typeface="Aptos"/>
              </a:rPr>
              <a:t>Monitor stock for Coffee-category items and leading products, especially Barista Espresso and Brewed Chai Tea.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566928" cy="566928"/>
          </a:xfrm>
          <a:prstGeom prst="roundRect">
            <a:avLst/>
          </a:prstGeom>
          <a:solidFill>
            <a:srgbClr val="EFE4D5"/>
          </a:solidFill>
          <a:ln>
            <a:solidFill>
              <a:srgbClr val="EF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724912"/>
            <a:ext cx="56692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4E2C1B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33472"/>
            <a:ext cx="9784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E2C1B"/>
                </a:solidFill>
                <a:latin typeface="Aptos"/>
              </a:rPr>
              <a:t>Plan staffing around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99232"/>
            <a:ext cx="9784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D2A26"/>
                </a:solidFill>
                <a:latin typeface="Aptos"/>
              </a:rPr>
              <a:t>Use the strong morning sales period to guide staff rosters, preparation and service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66928" cy="566928"/>
          </a:xfrm>
          <a:prstGeom prst="roundRect">
            <a:avLst/>
          </a:prstGeom>
          <a:solidFill>
            <a:srgbClr val="EFE4D5"/>
          </a:solidFill>
          <a:ln>
            <a:solidFill>
              <a:srgbClr val="EF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776472"/>
            <a:ext cx="56692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4E2C1B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685032"/>
            <a:ext cx="9784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E2C1B"/>
                </a:solidFill>
                <a:latin typeface="Aptos"/>
              </a:rPr>
              <a:t>Test targeted promotions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050791"/>
            <a:ext cx="9784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D2A26"/>
                </a:solidFill>
                <a:latin typeface="Aptos"/>
              </a:rPr>
              <a:t>Run measured promotions during slower months or quieter periods; compare revenue before and after each campaign.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79"/>
            <a:ext cx="566928" cy="566928"/>
          </a:xfrm>
          <a:prstGeom prst="roundRect">
            <a:avLst/>
          </a:prstGeom>
          <a:solidFill>
            <a:srgbClr val="EFE4D5"/>
          </a:solidFill>
          <a:ln>
            <a:solidFill>
              <a:srgbClr val="EF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828031"/>
            <a:ext cx="56692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4E2C1B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36592"/>
            <a:ext cx="9784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E2C1B"/>
                </a:solidFill>
                <a:latin typeface="Aptos"/>
              </a:rPr>
              <a:t>Review store-level practices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102351"/>
            <a:ext cx="9784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D2A26"/>
                </a:solidFill>
                <a:latin typeface="Aptos"/>
              </a:rPr>
              <a:t>Study Hell's Kitchen's performance and test transferable practices at Lower Manhattan.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10789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0432A"/>
                </a:solidFill>
                <a:latin typeface="Aptos"/>
              </a:rPr>
              <a:t>Management follow-up: agree on owners, targets and a monthly review cadence for these actions.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2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1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389888"/>
            <a:ext cx="868680" cy="50292"/>
          </a:xfrm>
          <a:prstGeom prst="rect">
            <a:avLst/>
          </a:prstGeom>
          <a:solidFill>
            <a:srgbClr val="0099A6"/>
          </a:solidFill>
          <a:ln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33272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FAF7F1"/>
                </a:solidFill>
                <a:latin typeface="Aptos"/>
              </a:rPr>
              <a:t>The January–June 2023 data shows that Bright Coffee Shop generated 698,812.33 in revenue across 149,116 transactions.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33272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FAF7F1"/>
                </a:solidFill>
                <a:latin typeface="Aptos"/>
              </a:rPr>
              <a:t>Revenue was strongest in June, Coffee was the leading category, Hell's Kitchen was the top-revenue store, and mornings were the busiest sales period.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33272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FAF7F1"/>
                </a:solidFill>
                <a:latin typeface="Aptos"/>
              </a:rPr>
              <a:t>The opportunity is to protect popular products, align staffing with peak demand, and test targeted promotions—then track results monthly to confirm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ECD0AB"/>
                </a:solidFill>
                <a:latin typeface="Aptos"/>
              </a:rPr>
              <a:t>Thank you | 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19</cp:revision>
  <dcterms:created xsi:type="dcterms:W3CDTF">2013-01-27T09:14:16Z</dcterms:created>
  <dcterms:modified xsi:type="dcterms:W3CDTF">2026-10-11T15:03:06Z</dcterms:modified>
  <cp:category/>
</cp:coreProperties>
</file>